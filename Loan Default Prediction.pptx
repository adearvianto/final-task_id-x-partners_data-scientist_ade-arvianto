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ontserrat" panose="020B0604020202020204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  <p:bold r:id="rId24"/>
      <p:italic r:id="rId25"/>
      <p:boldItalic r:id="rId26"/>
    </p:embeddedFont>
    <p:embeddedFont>
      <p:font typeface="Inter SemiBold" panose="020B0604020202020204" charset="0"/>
      <p:regular r:id="rId27"/>
      <p:bold r:id="rId28"/>
      <p:italic r:id="rId29"/>
      <p:boldItalic r:id="rId30"/>
    </p:embeddedFont>
    <p:embeddedFont>
      <p:font typeface="Montserrat SemiBold" panose="020B0604020202020204" charset="0"/>
      <p:regular r:id="rId31"/>
      <p:bold r:id="rId32"/>
      <p:italic r:id="rId33"/>
      <p:boldItalic r:id="rId34"/>
    </p:embeddedFont>
    <p:embeddedFont>
      <p:font typeface="Constantia" panose="02030602050306030303" pitchFamily="18" charset="0"/>
      <p:regular r:id="rId35"/>
      <p:bold r:id="rId36"/>
      <p:italic r:id="rId37"/>
      <p:boldItalic r:id="rId38"/>
    </p:embeddedFont>
    <p:embeddedFont>
      <p:font typeface="Montserrat ExtraBold" panose="020B0604020202020204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CABDEC-CD03-4C16-A914-226C77FACEAC}">
  <a:tblStyle styleId="{B6CABDEC-CD03-4C16-A914-226C77FACEA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font" Target="fonts/font25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font" Target="fonts/font26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22044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645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6138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5308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0524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3650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6151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6994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0126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7411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19814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51852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3670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711200" y="1371600"/>
            <a:ext cx="10468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711200" y="3228536"/>
            <a:ext cx="104730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1968500" y="6356350"/>
            <a:ext cx="8832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10566400" y="6356350"/>
            <a:ext cx="101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12700" y="-7937"/>
            <a:ext cx="12217405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solidFill>
            <a:srgbClr val="0C5FA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5842000" y="-7937"/>
            <a:ext cx="6350002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solidFill>
            <a:srgbClr val="0C5FA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oogle Shape;8;p1"/>
          <p:cNvGrpSpPr/>
          <p:nvPr/>
        </p:nvGrpSpPr>
        <p:grpSpPr>
          <a:xfrm>
            <a:off x="-39679" y="-35568"/>
            <a:ext cx="12264607" cy="1125292"/>
            <a:chOff x="-29755" y="-22779"/>
            <a:chExt cx="9198685" cy="1127887"/>
          </a:xfrm>
        </p:grpSpPr>
        <p:sp>
          <p:nvSpPr>
            <p:cNvPr id="9" name="Google Shape;9;p1"/>
            <p:cNvSpPr/>
            <p:nvPr/>
          </p:nvSpPr>
          <p:spPr>
            <a:xfrm rot="-179998">
              <a:off x="-19044" y="216552"/>
              <a:ext cx="9163053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C5FA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p1"/>
            <p:cNvSpPr/>
            <p:nvPr/>
          </p:nvSpPr>
          <p:spPr>
            <a:xfrm rot="-164306">
              <a:off x="-14309" y="290005"/>
              <a:ext cx="9175809" cy="530353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609600" y="1935162"/>
            <a:ext cx="10972800" cy="4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5445" algn="l" rtl="0">
              <a:spcBef>
                <a:spcPts val="520"/>
              </a:spcBef>
              <a:spcAft>
                <a:spcPts val="0"/>
              </a:spcAft>
              <a:buClr>
                <a:srgbClr val="0C5FA1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spcBef>
                <a:spcPts val="480"/>
              </a:spcBef>
              <a:spcAft>
                <a:spcPts val="0"/>
              </a:spcAft>
              <a:buClr>
                <a:srgbClr val="0C5FA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5" algn="l" rtl="0">
              <a:spcBef>
                <a:spcPts val="420"/>
              </a:spcBef>
              <a:spcAft>
                <a:spcPts val="0"/>
              </a:spcAft>
              <a:buClr>
                <a:srgbClr val="0C5FA1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rgbClr val="0C5FA1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311150" algn="l" rtl="0">
              <a:spcBef>
                <a:spcPts val="400"/>
              </a:spcBef>
              <a:spcAft>
                <a:spcPts val="0"/>
              </a:spcAft>
              <a:buClr>
                <a:srgbClr val="0C5FA1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40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80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D1EAEE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1968500" y="6356350"/>
            <a:ext cx="8832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0566400" y="6356350"/>
            <a:ext cx="101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279400" y="6629400"/>
            <a:ext cx="2417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r>
              <a:rPr lang="en-US" sz="1000" b="1" i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McGraw-Hill/Irwin</a:t>
            </a:r>
            <a:endParaRPr/>
          </a:p>
        </p:txBody>
      </p:sp>
      <p:sp>
        <p:nvSpPr>
          <p:cNvPr id="17" name="Google Shape;17;p1"/>
          <p:cNvSpPr txBox="1"/>
          <p:nvPr/>
        </p:nvSpPr>
        <p:spPr>
          <a:xfrm>
            <a:off x="4525433" y="6629400"/>
            <a:ext cx="7641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r>
              <a:rPr lang="en-US" sz="1000" b="1" i="1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Copyright © 2013 by The McGraw-Hill Companies, Inc. All rights reserved.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1195387" y="2733675"/>
            <a:ext cx="9801225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Predicting Loan Default Risk</a:t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1428750" y="3594645"/>
            <a:ext cx="93345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Data-Driven Approach to Advanced Credit Scoring &amp; Analytics</a:t>
            </a:r>
            <a:endParaRPr/>
          </a:p>
        </p:txBody>
      </p:sp>
      <p:sp>
        <p:nvSpPr>
          <p:cNvPr id="6" name="Google Shape;45;p5"/>
          <p:cNvSpPr txBox="1"/>
          <p:nvPr/>
        </p:nvSpPr>
        <p:spPr>
          <a:xfrm>
            <a:off x="1604962" y="4715574"/>
            <a:ext cx="593407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smtClean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Presented by Ade Arvianto</a:t>
            </a:r>
            <a:endParaRPr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3729037" y="1802054"/>
            <a:ext cx="528637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 smtClean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Ade Arvianto</a:t>
            </a:r>
            <a:endParaRPr sz="3200" dirty="0"/>
          </a:p>
        </p:txBody>
      </p:sp>
      <p:sp>
        <p:nvSpPr>
          <p:cNvPr id="42" name="Google Shape;42;p5"/>
          <p:cNvSpPr txBox="1"/>
          <p:nvPr/>
        </p:nvSpPr>
        <p:spPr>
          <a:xfrm>
            <a:off x="5157789" y="2357437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smtClean="0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Lived in </a:t>
            </a:r>
            <a:r>
              <a:rPr lang="en-US" sz="2100" b="0" i="0" u="none" strike="noStrike" cap="none" dirty="0" err="1" smtClean="0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Depok</a:t>
            </a:r>
            <a:endParaRPr dirty="0"/>
          </a:p>
        </p:txBody>
      </p:sp>
      <p:sp>
        <p:nvSpPr>
          <p:cNvPr id="43" name="Google Shape;43;p5"/>
          <p:cNvSpPr txBox="1"/>
          <p:nvPr/>
        </p:nvSpPr>
        <p:spPr>
          <a:xfrm>
            <a:off x="5157789" y="3152775"/>
            <a:ext cx="646271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I’m experienced in life insurance industry with a specialized focus on actuarial valuation, reinsurance, </a:t>
            </a:r>
            <a:r>
              <a:rPr lang="en-US" sz="1500" dirty="0" smtClean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and reporting</a:t>
            </a:r>
            <a:r>
              <a:rPr lang="en-US" sz="150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Currently, I am advancing my expertise in Data Science. </a:t>
            </a:r>
            <a:endParaRPr dirty="0"/>
          </a:p>
        </p:txBody>
      </p:sp>
      <p:sp>
        <p:nvSpPr>
          <p:cNvPr id="45" name="Google Shape;45;p5"/>
          <p:cNvSpPr txBox="1"/>
          <p:nvPr/>
        </p:nvSpPr>
        <p:spPr>
          <a:xfrm>
            <a:off x="571500" y="6286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 smtClean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Biodata</a:t>
            </a:r>
            <a:endParaRPr dirty="0"/>
          </a:p>
        </p:txBody>
      </p:sp>
      <p:sp>
        <p:nvSpPr>
          <p:cNvPr id="46" name="Google Shape;46;p5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99" y="2188368"/>
            <a:ext cx="2171701" cy="22091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14338" y="6072187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Loan Applicants Evaluated</a:t>
            </a:r>
            <a:endParaRPr dirty="0"/>
          </a:p>
        </p:txBody>
      </p:sp>
      <p:sp>
        <p:nvSpPr>
          <p:cNvPr id="42" name="Google Shape;42;p5"/>
          <p:cNvSpPr txBox="1"/>
          <p:nvPr/>
        </p:nvSpPr>
        <p:spPr>
          <a:xfrm>
            <a:off x="6334125" y="268605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Extensive Data Footprint</a:t>
            </a:r>
            <a:endParaRPr/>
          </a:p>
        </p:txBody>
      </p:sp>
      <p:sp>
        <p:nvSpPr>
          <p:cNvPr id="43" name="Google Shape;43;p5"/>
          <p:cNvSpPr txBox="1"/>
          <p:nvPr/>
        </p:nvSpPr>
        <p:spPr>
          <a:xfrm>
            <a:off x="6334125" y="31527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processed a massive, historical loan dataset spanning 2007-2014, evaluating over 466,285 unique applicant profiles against 75 comprehensive financial features.</a:t>
            </a:r>
            <a:endParaRPr/>
          </a:p>
        </p:txBody>
      </p:sp>
      <p:sp>
        <p:nvSpPr>
          <p:cNvPr id="44" name="Google Shape;44;p5"/>
          <p:cNvSpPr txBox="1"/>
          <p:nvPr/>
        </p:nvSpPr>
        <p:spPr>
          <a:xfrm>
            <a:off x="6334125" y="42100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This macro-level analysis enables us to identify robust, statistically significant triggers that historically precede credit default events.</a:t>
            </a:r>
            <a:endParaRPr/>
          </a:p>
        </p:txBody>
      </p:sp>
      <p:sp>
        <p:nvSpPr>
          <p:cNvPr id="45" name="Google Shape;45;p5"/>
          <p:cNvSpPr txBox="1"/>
          <p:nvPr/>
        </p:nvSpPr>
        <p:spPr>
          <a:xfrm>
            <a:off x="571500" y="6286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Historical Portfolio Context</a:t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8" y="1714500"/>
            <a:ext cx="5086084" cy="389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02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11049000" cy="49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1123950" y="5695950"/>
            <a:ext cx="9944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portfolio exhibits heavy class imbalance. To accurately capture the 11.2% minority class (defaulters), stratified sampling and advanced metrics like ROC-AUC are required.</a:t>
            </a:r>
            <a:endParaRPr/>
          </a:p>
        </p:txBody>
      </p:sp>
      <p:sp>
        <p:nvSpPr>
          <p:cNvPr id="55" name="Google Shape;55;p6"/>
          <p:cNvSpPr txBox="1"/>
          <p:nvPr/>
        </p:nvSpPr>
        <p:spPr>
          <a:xfrm>
            <a:off x="571500" y="466725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Overall Risk Distribution</a:t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571500" y="11049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66875"/>
            <a:ext cx="11049000" cy="4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 txBox="1"/>
          <p:nvPr/>
        </p:nvSpPr>
        <p:spPr>
          <a:xfrm>
            <a:off x="1123950" y="4981575"/>
            <a:ext cx="9944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Debt consolidation is the primary driver of bad risk in the portfolio. Applicants restructuring existing debt show a significantly higher propensity to default compared to transactional borrowers.</a:t>
            </a:r>
            <a:endParaRPr/>
          </a:p>
        </p:txBody>
      </p:sp>
      <p:sp>
        <p:nvSpPr>
          <p:cNvPr id="65" name="Google Shape;65;p7"/>
          <p:cNvSpPr txBox="1"/>
          <p:nvPr/>
        </p:nvSpPr>
        <p:spPr>
          <a:xfrm>
            <a:off x="571500" y="6286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Bad Risk Concentration by Purpose</a:t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 txBox="1"/>
          <p:nvPr/>
        </p:nvSpPr>
        <p:spPr>
          <a:xfrm>
            <a:off x="857250" y="1766887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Term Length: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36-month terms represent the highest absolute volume of defaults, while 60-month terms carry a unique proportional risk profile.</a:t>
            </a:r>
            <a:endParaRPr/>
          </a:p>
        </p:txBody>
      </p:sp>
      <p:sp>
        <p:nvSpPr>
          <p:cNvPr id="75" name="Google Shape;75;p8"/>
          <p:cNvSpPr txBox="1"/>
          <p:nvPr/>
        </p:nvSpPr>
        <p:spPr>
          <a:xfrm>
            <a:off x="857250" y="2871787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Home Ownership: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Over 92% of the applicant base either have a mortgage (51.6%) or are renting (40.4%).</a:t>
            </a:r>
            <a:endParaRPr/>
          </a:p>
        </p:txBody>
      </p:sp>
      <p:sp>
        <p:nvSpPr>
          <p:cNvPr id="76" name="Google Shape;76;p8"/>
          <p:cNvSpPr txBox="1"/>
          <p:nvPr/>
        </p:nvSpPr>
        <p:spPr>
          <a:xfrm>
            <a:off x="857250" y="3976687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Financial Stability: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Mortgage holders and renters display the highest variance in stability, acting as a crucial indicator for algorithmic weighting.</a:t>
            </a:r>
            <a:endParaRPr/>
          </a:p>
        </p:txBody>
      </p:sp>
      <p:sp>
        <p:nvSpPr>
          <p:cNvPr id="77" name="Google Shape;77;p8"/>
          <p:cNvSpPr txBox="1"/>
          <p:nvPr/>
        </p:nvSpPr>
        <p:spPr>
          <a:xfrm>
            <a:off x="857250" y="5081587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Strategic Focus: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Proper stratification across ownership and term-length cohorts is imperative for unbiased model training.</a:t>
            </a:r>
            <a:endParaRPr/>
          </a:p>
        </p:txBody>
      </p:sp>
      <p:sp>
        <p:nvSpPr>
          <p:cNvPr id="79" name="Google Shape;79;p8"/>
          <p:cNvSpPr txBox="1"/>
          <p:nvPr/>
        </p:nvSpPr>
        <p:spPr>
          <a:xfrm>
            <a:off x="571500" y="6286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Key Demographic Drivers</a:t>
            </a:r>
            <a:endParaRPr dirty="0"/>
          </a:p>
        </p:txBody>
      </p:sp>
      <p:sp>
        <p:nvSpPr>
          <p:cNvPr id="80" name="Google Shape;80;p8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859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908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957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006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75" y="2424112"/>
            <a:ext cx="5648325" cy="2676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5524500" y="2566094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 txBox="1"/>
          <p:nvPr/>
        </p:nvSpPr>
        <p:spPr>
          <a:xfrm>
            <a:off x="975359" y="3004244"/>
            <a:ext cx="1024128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Advanced Predictive Modeling</a:t>
            </a:r>
            <a:endParaRPr/>
          </a:p>
        </p:txBody>
      </p:sp>
      <p:sp>
        <p:nvSpPr>
          <p:cNvPr id="93" name="Google Shape;93;p9"/>
          <p:cNvSpPr txBox="1"/>
          <p:nvPr/>
        </p:nvSpPr>
        <p:spPr>
          <a:xfrm>
            <a:off x="2286000" y="3937694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Transitioning from historical analysis to proactive risk mitigation using optimized Machine Learning architectures.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6450"/>
            <a:ext cx="3492549" cy="38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76450"/>
            <a:ext cx="3492549" cy="38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76450"/>
            <a:ext cx="3492549" cy="38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 txBox="1"/>
          <p:nvPr/>
        </p:nvSpPr>
        <p:spPr>
          <a:xfrm>
            <a:off x="1327576" y="3352800"/>
            <a:ext cx="198024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Null Handling</a:t>
            </a:r>
            <a:endParaRPr/>
          </a:p>
        </p:txBody>
      </p:sp>
      <p:sp>
        <p:nvSpPr>
          <p:cNvPr id="104" name="Google Shape;104;p10"/>
          <p:cNvSpPr txBox="1"/>
          <p:nvPr/>
        </p:nvSpPr>
        <p:spPr>
          <a:xfrm>
            <a:off x="866775" y="381952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Omitted features exceeding a 50% null threshold. Imputed numerical continuities with medians and categorical gaps with mode frequencies.</a:t>
            </a:r>
            <a:endParaRPr/>
          </a:p>
        </p:txBody>
      </p:sp>
      <p:sp>
        <p:nvSpPr>
          <p:cNvPr id="105" name="Google Shape;105;p10"/>
          <p:cNvSpPr txBox="1"/>
          <p:nvPr/>
        </p:nvSpPr>
        <p:spPr>
          <a:xfrm>
            <a:off x="4830841" y="3352800"/>
            <a:ext cx="25303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Feature Selection</a:t>
            </a:r>
            <a:endParaRPr/>
          </a:p>
        </p:txBody>
      </p:sp>
      <p:sp>
        <p:nvSpPr>
          <p:cNvPr id="106" name="Google Shape;106;p10"/>
          <p:cNvSpPr txBox="1"/>
          <p:nvPr/>
        </p:nvSpPr>
        <p:spPr>
          <a:xfrm>
            <a:off x="4645074" y="381952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Applied correlation heatmaps to eliminate highly colinear variables (Pearson &gt; 0.70), reducing noise and combating algorithmic multicollinearity.</a:t>
            </a:r>
            <a:endParaRPr/>
          </a:p>
        </p:txBody>
      </p:sp>
      <p:sp>
        <p:nvSpPr>
          <p:cNvPr id="107" name="Google Shape;107;p10"/>
          <p:cNvSpPr txBox="1"/>
          <p:nvPr/>
        </p:nvSpPr>
        <p:spPr>
          <a:xfrm>
            <a:off x="8779162" y="3352800"/>
            <a:ext cx="219027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WOE Encoding</a:t>
            </a:r>
            <a:endParaRPr/>
          </a:p>
        </p:txBody>
      </p:sp>
      <p:sp>
        <p:nvSpPr>
          <p:cNvPr id="108" name="Google Shape;108;p10"/>
          <p:cNvSpPr txBox="1"/>
          <p:nvPr/>
        </p:nvSpPr>
        <p:spPr>
          <a:xfrm>
            <a:off x="8423374" y="381952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Employed Weight of Evidence (WOE) and Information Value (IV) analysis to transform raw categoricals into statistically predictive, monotonic bins.</a:t>
            </a:r>
            <a:endParaRPr/>
          </a:p>
        </p:txBody>
      </p:sp>
      <p:pic>
        <p:nvPicPr>
          <p:cNvPr id="109" name="Google Shape;109;p1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17662" y="2514600"/>
            <a:ext cx="6000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29300" y="251460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07599" y="251460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0"/>
          <p:cNvSpPr txBox="1"/>
          <p:nvPr/>
        </p:nvSpPr>
        <p:spPr>
          <a:xfrm>
            <a:off x="571500" y="6286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Data Preprocessing Pipeline</a:t>
            </a:r>
            <a:endParaRPr/>
          </a:p>
        </p:txBody>
      </p:sp>
      <p:sp>
        <p:nvSpPr>
          <p:cNvPr id="113" name="Google Shape;113;p10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23094"/>
            <a:ext cx="11049000" cy="510718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571500" y="1613594"/>
            <a:ext cx="11049000" cy="38784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2" name="Google Shape;122;p11"/>
          <p:cNvGraphicFramePr/>
          <p:nvPr/>
        </p:nvGraphicFramePr>
        <p:xfrm>
          <a:off x="571500" y="1613594"/>
          <a:ext cx="11048975" cy="3878500"/>
        </p:xfrm>
        <a:graphic>
          <a:graphicData uri="http://schemas.openxmlformats.org/drawingml/2006/table">
            <a:tbl>
              <a:tblPr firstRow="1" bandRow="1">
                <a:noFill/>
                <a:tableStyleId>{B6CABDEC-CD03-4C16-A914-226C77FACEAC}</a:tableStyleId>
              </a:tblPr>
              <a:tblGrid>
                <a:gridCol w="2816125"/>
                <a:gridCol w="2237025"/>
                <a:gridCol w="2237025"/>
                <a:gridCol w="1771350"/>
                <a:gridCol w="1987450"/>
              </a:tblGrid>
              <a:tr h="775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Algorithm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Recall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ROC-AUC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775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75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Decision Tree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75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Logistic Regression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75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XGBoost Classifier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p11"/>
          <p:cNvSpPr/>
          <p:nvPr/>
        </p:nvSpPr>
        <p:spPr>
          <a:xfrm>
            <a:off x="571500" y="2401192"/>
            <a:ext cx="28161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3387625" y="2401192"/>
            <a:ext cx="22370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5624661" y="2401192"/>
            <a:ext cx="22370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7861696" y="2401192"/>
            <a:ext cx="17713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1"/>
          <p:cNvSpPr/>
          <p:nvPr/>
        </p:nvSpPr>
        <p:spPr>
          <a:xfrm>
            <a:off x="9633049" y="2401192"/>
            <a:ext cx="1987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571500" y="3172717"/>
            <a:ext cx="28161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3387625" y="3172717"/>
            <a:ext cx="22370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/>
          <p:nvPr/>
        </p:nvSpPr>
        <p:spPr>
          <a:xfrm>
            <a:off x="5624661" y="3172717"/>
            <a:ext cx="22370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7861696" y="3172717"/>
            <a:ext cx="17713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9633049" y="3172717"/>
            <a:ext cx="1987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571500" y="3944242"/>
            <a:ext cx="28161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3387625" y="3944242"/>
            <a:ext cx="22370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5624661" y="3944242"/>
            <a:ext cx="22370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7861696" y="3944242"/>
            <a:ext cx="17713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9633049" y="3944242"/>
            <a:ext cx="1987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571500" y="4715767"/>
            <a:ext cx="28161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3387625" y="4715767"/>
            <a:ext cx="22370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5624661" y="4715767"/>
            <a:ext cx="22370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7861696" y="4715767"/>
            <a:ext cx="17713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9633049" y="4715767"/>
            <a:ext cx="1987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 txBox="1"/>
          <p:nvPr/>
        </p:nvSpPr>
        <p:spPr>
          <a:xfrm>
            <a:off x="571500" y="384869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Model Evaluation Matrix</a:t>
            </a:r>
            <a:endParaRPr/>
          </a:p>
        </p:txBody>
      </p:sp>
      <p:sp>
        <p:nvSpPr>
          <p:cNvPr id="144" name="Google Shape;144;p11"/>
          <p:cNvSpPr/>
          <p:nvPr/>
        </p:nvSpPr>
        <p:spPr>
          <a:xfrm>
            <a:off x="571500" y="1023044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 txBox="1"/>
          <p:nvPr/>
        </p:nvSpPr>
        <p:spPr>
          <a:xfrm>
            <a:off x="571500" y="5638800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XGBoost</a:t>
            </a:r>
            <a:r>
              <a:rPr lang="en-US" sz="2100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ROC-AUC Score</a:t>
            </a:r>
            <a:endParaRPr dirty="0"/>
          </a:p>
        </p:txBody>
      </p:sp>
      <p:sp>
        <p:nvSpPr>
          <p:cNvPr id="153" name="Google Shape;153;p12"/>
          <p:cNvSpPr txBox="1"/>
          <p:nvPr/>
        </p:nvSpPr>
        <p:spPr>
          <a:xfrm>
            <a:off x="6334125" y="253365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Precision Meets Scale</a:t>
            </a:r>
            <a:endParaRPr/>
          </a:p>
        </p:txBody>
      </p:sp>
      <p:sp>
        <p:nvSpPr>
          <p:cNvPr id="154" name="Google Shape;154;p12"/>
          <p:cNvSpPr txBox="1"/>
          <p:nvPr/>
        </p:nvSpPr>
        <p:spPr>
          <a:xfrm>
            <a:off x="6334125" y="30003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Extreme Gradient Boosting (XGBoost) successfully delivered the optimal balance of predictive accuracy and robust class separation.</a:t>
            </a:r>
            <a:endParaRPr/>
          </a:p>
        </p:txBody>
      </p:sp>
      <p:sp>
        <p:nvSpPr>
          <p:cNvPr id="155" name="Google Shape;155;p12"/>
          <p:cNvSpPr txBox="1"/>
          <p:nvPr/>
        </p:nvSpPr>
        <p:spPr>
          <a:xfrm>
            <a:off x="6334125" y="4057650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By heavily penalizing misclassifications of minority 'Bad Risk' loans through its tree-boosting architecture, it minimizes false negatives and actively protects bottom-line capital.</a:t>
            </a:r>
            <a:endParaRPr/>
          </a:p>
        </p:txBody>
      </p:sp>
      <p:sp>
        <p:nvSpPr>
          <p:cNvPr id="156" name="Google Shape;156;p12"/>
          <p:cNvSpPr txBox="1"/>
          <p:nvPr/>
        </p:nvSpPr>
        <p:spPr>
          <a:xfrm>
            <a:off x="571500" y="6286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Champion Model</a:t>
            </a:r>
            <a:endParaRPr/>
          </a:p>
        </p:txBody>
      </p:sp>
      <p:sp>
        <p:nvSpPr>
          <p:cNvPr id="157" name="Google Shape;157;p12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767012"/>
            <a:ext cx="5381625" cy="2200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3"/>
          <p:cNvSpPr txBox="1"/>
          <p:nvPr/>
        </p:nvSpPr>
        <p:spPr>
          <a:xfrm>
            <a:off x="571500" y="571500"/>
            <a:ext cx="555069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Strategic Execution</a:t>
            </a:r>
            <a:endParaRPr/>
          </a:p>
        </p:txBody>
      </p:sp>
      <p:pic>
        <p:nvPicPr>
          <p:cNvPr id="164" name="Google Shape;164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22193" y="514350"/>
            <a:ext cx="5153025" cy="608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3"/>
          <p:cNvSpPr txBox="1"/>
          <p:nvPr/>
        </p:nvSpPr>
        <p:spPr>
          <a:xfrm>
            <a:off x="571500" y="1400175"/>
            <a:ext cx="5550693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Next Steps &amp; Deployment</a:t>
            </a:r>
            <a:endParaRPr/>
          </a:p>
        </p:txBody>
      </p:sp>
      <p:sp>
        <p:nvSpPr>
          <p:cNvPr id="166" name="Google Shape;166;p13"/>
          <p:cNvSpPr txBox="1"/>
          <p:nvPr/>
        </p:nvSpPr>
        <p:spPr>
          <a:xfrm>
            <a:off x="571500" y="2057400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 API Integration: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Package the XGBoost champion model as a microservice for real-time application scoring.</a:t>
            </a:r>
            <a:endParaRPr/>
          </a:p>
        </p:txBody>
      </p:sp>
      <p:sp>
        <p:nvSpPr>
          <p:cNvPr id="167" name="Google Shape;167;p13"/>
          <p:cNvSpPr txBox="1"/>
          <p:nvPr/>
        </p:nvSpPr>
        <p:spPr>
          <a:xfrm>
            <a:off x="571500" y="3253382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 Policy Adjustment: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Introduce stricter underwriting prerequisites for 'Debt Consolidation' flagged applicants.</a:t>
            </a:r>
            <a:endParaRPr/>
          </a:p>
        </p:txBody>
      </p:sp>
      <p:sp>
        <p:nvSpPr>
          <p:cNvPr id="168" name="Google Shape;168;p13"/>
          <p:cNvSpPr txBox="1"/>
          <p:nvPr/>
        </p:nvSpPr>
        <p:spPr>
          <a:xfrm>
            <a:off x="571500" y="4449365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 Pilot A/B Testing: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Route 10% of new traffic through the predictive engine to validate real-world AUC consistency against traditional scorecards.</a:t>
            </a:r>
            <a:endParaRPr/>
          </a:p>
        </p:txBody>
      </p:sp>
      <p:sp>
        <p:nvSpPr>
          <p:cNvPr id="169" name="Google Shape;169;p13"/>
          <p:cNvSpPr txBox="1"/>
          <p:nvPr/>
        </p:nvSpPr>
        <p:spPr>
          <a:xfrm>
            <a:off x="571500" y="5645348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 Lifecycle Monitoring: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Establish continuous tracking on WOE/IV metrics to detect data drift ahead of macro-economic shifts.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3443287" y="3042076"/>
            <a:ext cx="47148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 smtClean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Thankyou</a:t>
            </a:r>
            <a:endParaRPr sz="5400" dirty="0"/>
          </a:p>
        </p:txBody>
      </p:sp>
      <p:sp>
        <p:nvSpPr>
          <p:cNvPr id="189" name="Google Shape;189;p15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Mullins_Template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521</Words>
  <Application>Microsoft Office PowerPoint</Application>
  <PresentationFormat>Widescreen</PresentationFormat>
  <Paragraphs>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Calibri</vt:lpstr>
      <vt:lpstr>Noto Sans Symbols</vt:lpstr>
      <vt:lpstr>Montserrat</vt:lpstr>
      <vt:lpstr>Times New Roman</vt:lpstr>
      <vt:lpstr>Arial</vt:lpstr>
      <vt:lpstr>Inter</vt:lpstr>
      <vt:lpstr>Inter SemiBold</vt:lpstr>
      <vt:lpstr>Montserrat SemiBold</vt:lpstr>
      <vt:lpstr>Constantia</vt:lpstr>
      <vt:lpstr>Montserrat ExtraBold</vt:lpstr>
      <vt:lpstr>1_Mullins_Template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Ade Arvianto</cp:lastModifiedBy>
  <cp:revision>2</cp:revision>
  <dcterms:modified xsi:type="dcterms:W3CDTF">2026-04-17T16:58:53Z</dcterms:modified>
</cp:coreProperties>
</file>